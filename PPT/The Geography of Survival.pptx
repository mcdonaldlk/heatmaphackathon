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7" r:id="rId4"/>
    <p:sldId id="260" r:id="rId5"/>
    <p:sldId id="268" r:id="rId6"/>
    <p:sldId id="271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27F00-CA53-46C0-98CE-D9BB3E94B809}" v="6" dt="2026-03-13T22:33:26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60"/>
  </p:normalViewPr>
  <p:slideViewPr>
    <p:cSldViewPr snapToGrid="0">
      <p:cViewPr>
        <p:scale>
          <a:sx n="80" d="100"/>
          <a:sy n="80" d="100"/>
        </p:scale>
        <p:origin x="33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9669-D8A4-434B-9041-7D59E9DE74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AB466-E2FA-4D7E-BE8D-CACF107702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SVI vs. Distance (Positive Correlation):</a:t>
            </a:r>
            <a:r>
              <a:rPr lang="en-US" dirty="0"/>
              <a:t> States with higher social vulnerability (specifically higher poverty and lower vehicle ownership) tend to have significantly higher distances to burn centers. This confirms that </a:t>
            </a:r>
            <a:r>
              <a:rPr lang="en-US" b="1" dirty="0"/>
              <a:t>transportation-poor populations are also the most geographically isolated.</a:t>
            </a:r>
            <a:endParaRPr lang="en-US" dirty="0"/>
          </a:p>
          <a:p>
            <a:r>
              <a:rPr lang="en-US" b="1" dirty="0"/>
              <a:t>Distance vs. Bed Capacity (Negative Correlation):</a:t>
            </a:r>
            <a:r>
              <a:rPr lang="en-US" dirty="0"/>
              <a:t> Areas with the greatest distances often have the lowest bed densities. This means if a patient finally travels 150 miles, they are arriving at a center that is more likely to be at full capacity.</a:t>
            </a:r>
          </a:p>
          <a:p>
            <a:r>
              <a:rPr lang="en-US" b="1" dirty="0"/>
              <a:t>SVI vs. Bed Capacity (Negative Correlation):</a:t>
            </a:r>
            <a:r>
              <a:rPr lang="en-US" dirty="0"/>
              <a:t> Socially vulnerable states (like the 7 "Zero-Center" states identified in your PPT) have the lowest normalized bed counts.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91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5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600k injuries flowing into only ~20k successful referrals from the interactive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6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Identified the </a:t>
            </a:r>
            <a:r>
              <a:rPr lang="en-US" b="1" dirty="0"/>
              <a:t>Level I Trauma Centers</a:t>
            </a:r>
            <a:r>
              <a:rPr lang="en-US" dirty="0"/>
              <a:t> that do </a:t>
            </a:r>
            <a:r>
              <a:rPr lang="en-US" i="1" dirty="0"/>
              <a:t>not</a:t>
            </a:r>
            <a:r>
              <a:rPr lang="en-US" dirty="0"/>
              <a:t> currently have burn units.  These are the bridge between the current desert and future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1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identified the </a:t>
            </a:r>
            <a:r>
              <a:rPr lang="en-US" b="1" dirty="0"/>
              <a:t>Level I Trauma Centers</a:t>
            </a:r>
            <a:r>
              <a:rPr lang="en-US" dirty="0"/>
              <a:t> that do </a:t>
            </a:r>
            <a:r>
              <a:rPr lang="en-US" i="1" dirty="0"/>
              <a:t>not</a:t>
            </a:r>
            <a:r>
              <a:rPr lang="en-US" dirty="0"/>
              <a:t> currently have burn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57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shows that no matter how you look at the data, the same 10 states need help. It makes your recommendation "undeniable."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AB466-E2FA-4D7E-BE8D-CACF107702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9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EE647-938F-4D95-A860-CCF375C64F6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3329-4B63-47CB-BC94-1289A86E67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cdonaldlk.github.io/HeatmapHackathon/Figure_1i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mcdonaldlk.github.io/HeatmapHackathon/Figure_2i_map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mcdonaldlk.github.io/HeatmapHackathon/Figure_8i_Social_Vulnerability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cdonaldlk.github.io/HeatmapHackathon/Figure_13i_Impact_Projection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68411"/>
            <a:ext cx="7928919" cy="1371600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The Geography of Survival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5905" y="2514763"/>
            <a:ext cx="3477127" cy="354029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/>
              <a:t>The Reality: </a:t>
            </a:r>
            <a:r>
              <a:rPr lang="en-US" altLang="en-US" dirty="0"/>
              <a:t>Access to specialized care is a "</a:t>
            </a:r>
            <a:r>
              <a:rPr lang="en-US" altLang="en-US" b="1" dirty="0"/>
              <a:t>Zip Code </a:t>
            </a:r>
            <a:r>
              <a:rPr lang="en-US" altLang="en-US" b="1" dirty="0">
                <a:sym typeface="+mn-ea"/>
              </a:rPr>
              <a:t>Lottery."</a:t>
            </a:r>
            <a:endParaRPr lang="en-US" altLang="en-US" dirty="0"/>
          </a:p>
          <a:p>
            <a:endParaRPr lang="en-US" altLang="en-US" b="1" dirty="0"/>
          </a:p>
          <a:p>
            <a:r>
              <a:rPr lang="en-US" altLang="en-US" b="1" dirty="0"/>
              <a:t>The Mission:</a:t>
            </a:r>
            <a:r>
              <a:rPr lang="en-US" altLang="en-US" dirty="0"/>
              <a:t> Identify </a:t>
            </a:r>
            <a:r>
              <a:rPr lang="en-US" altLang="en-US" b="1" dirty="0"/>
              <a:t>"Burn Deserts"</a:t>
            </a:r>
            <a:r>
              <a:rPr lang="en-US" altLang="en-US" dirty="0"/>
              <a:t> and </a:t>
            </a:r>
            <a:r>
              <a:rPr lang="en-US" altLang="en-US" b="1" dirty="0"/>
              <a:t>bridge the equity gap</a:t>
            </a:r>
            <a:r>
              <a:rPr lang="en-US" altLang="en-US" dirty="0"/>
              <a:t> through data-driven resource allocation.</a:t>
            </a:r>
          </a:p>
          <a:p>
            <a:pPr algn="l"/>
            <a:endParaRPr lang="en-US" altLang="en-US" dirty="0"/>
          </a:p>
          <a:p>
            <a:r>
              <a:rPr lang="en-US" b="1" dirty="0"/>
              <a:t>   Team 13 </a:t>
            </a:r>
          </a:p>
          <a:p>
            <a:r>
              <a:rPr lang="en-US" dirty="0"/>
              <a:t>Check out more details Please scan </a:t>
            </a:r>
            <a:r>
              <a:rPr lang="en-US" dirty="0" err="1"/>
              <a:t>QRcode</a:t>
            </a:r>
            <a:r>
              <a:rPr lang="en-US" dirty="0"/>
              <a:t> 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4" name="Picture 3" descr="newplot (8)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062" y="1940011"/>
            <a:ext cx="2407601" cy="1970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E852EE-8691-6592-D0F4-9655C2783937}"/>
              </a:ext>
            </a:extLst>
          </p:cNvPr>
          <p:cNvSpPr txBox="1"/>
          <p:nvPr/>
        </p:nvSpPr>
        <p:spPr>
          <a:xfrm>
            <a:off x="1124465" y="6116595"/>
            <a:ext cx="722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  <a:sym typeface="+mn-ea"/>
              </a:rPr>
              <a:t>Your zip code shouldn't be your death warrant, but for burn victims, it is.</a:t>
            </a:r>
            <a:endParaRPr lang="en-US"/>
          </a:p>
        </p:txBody>
      </p:sp>
      <p:pic>
        <p:nvPicPr>
          <p:cNvPr id="11" name="Picture 10">
            <a:hlinkClick r:id="rId4"/>
            <a:extLst>
              <a:ext uri="{FF2B5EF4-FFF2-40B4-BE49-F238E27FC236}">
                <a16:creationId xmlns:a16="http://schemas.microsoft.com/office/drawing/2014/main" id="{275B2461-965F-F81E-0F3C-EB39706584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538" y="3535468"/>
            <a:ext cx="3208642" cy="2230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BD8FB8-44BF-DCE5-8D93-5A60A98D6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7862" y="4322443"/>
            <a:ext cx="1806702" cy="17326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Problem: Burn Deserts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6153C890-5AD8-65B8-3096-86B05140D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6122" y="2036564"/>
            <a:ext cx="7504710" cy="3602259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434136" y="2057512"/>
            <a:ext cx="3021742" cy="390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Critical Scarcity:</a:t>
            </a:r>
            <a:r>
              <a:rPr lang="en-US" altLang="en-US" sz="2000" dirty="0"/>
              <a:t> 7 U.S. states have zero adult burn centers (AK, DE, MS, MT, ND, NH, SD).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err="1"/>
              <a:t>The"Silo</a:t>
            </a:r>
            <a:r>
              <a:rPr lang="en-US" altLang="en-US" sz="2000" b="1" dirty="0"/>
              <a:t>" Effect:</a:t>
            </a:r>
            <a:r>
              <a:rPr lang="en-US" altLang="en-US" sz="2000" dirty="0"/>
              <a:t> 88% of trauma centers operate without specialized burn capabilities.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/>
              <a:t>Systemic Failure:</a:t>
            </a:r>
            <a:r>
              <a:rPr lang="en-US" altLang="en-US" sz="2000" dirty="0"/>
              <a:t> Geographic isolation creates "hidden" disparities that traditional healthcare metrics overlook.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en-US" sz="3400"/>
              <a:t>Methodology: The CVI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700" b="1"/>
              <a:t>Clinical Vulnerability Index (SVI + Distance + Capacity)</a:t>
            </a:r>
          </a:p>
          <a:p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Beyond Distance: </a:t>
            </a:r>
            <a:r>
              <a:rPr lang="en-US" altLang="en-US" sz="1700"/>
              <a:t>We don't just measure miles; we measure vulnerability.</a:t>
            </a:r>
          </a:p>
          <a:p>
            <a:pPr marL="457200" lvl="1" indent="0">
              <a:buNone/>
            </a:pPr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The Formula: </a:t>
            </a:r>
            <a:r>
              <a:rPr lang="en-US" altLang="en-US" sz="1700"/>
              <a:t>CVI = [SVI (Social Vulnerability)] + [Distance to Care] + [Bed Capacity].</a:t>
            </a:r>
          </a:p>
          <a:p>
            <a:pPr marL="457200" lvl="1" indent="0">
              <a:buNone/>
            </a:pPr>
            <a:endParaRPr lang="en-US" altLang="en-US" sz="1700"/>
          </a:p>
          <a:p>
            <a:pPr marL="457200" lvl="1" indent="0">
              <a:buNone/>
            </a:pPr>
            <a:r>
              <a:rPr lang="en-US" altLang="en-US" sz="1700" b="1"/>
              <a:t>Data Integrity: </a:t>
            </a:r>
            <a:r>
              <a:rPr lang="en-US" altLang="en-US" sz="1700"/>
              <a:t>Integrated NIRD 2023 hospital data with Census 2020 population centroids and CDC SVI scores.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366BE6-8612-C0BC-24E2-CACE36FDD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876" y="517600"/>
            <a:ext cx="4942703" cy="2743200"/>
          </a:xfrm>
          <a:prstGeom prst="rect">
            <a:avLst/>
          </a:prstGeom>
        </p:spPr>
      </p:pic>
      <p:pic>
        <p:nvPicPr>
          <p:cNvPr id="10" name="Picture 9">
            <a:hlinkClick r:id="rId4"/>
            <a:extLst>
              <a:ext uri="{FF2B5EF4-FFF2-40B4-BE49-F238E27FC236}">
                <a16:creationId xmlns:a16="http://schemas.microsoft.com/office/drawing/2014/main" id="{5ACE8145-BA4A-0F0D-31B5-B966C2D90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68" y="3638643"/>
            <a:ext cx="5135719" cy="2323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Mapping the Gap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577666" y="2351405"/>
            <a:ext cx="4064000" cy="382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The "Failure Zone":</a:t>
            </a:r>
            <a:r>
              <a:rPr lang="en-US" altLang="en-US" dirty="0"/>
              <a:t> High-population areas located far from care centers (The "Dark Blue" states).</a:t>
            </a:r>
          </a:p>
          <a:p>
            <a:endParaRPr lang="en-US" altLang="en-US" dirty="0"/>
          </a:p>
          <a:p>
            <a:r>
              <a:rPr lang="en-US" altLang="en-US" b="1" dirty="0"/>
              <a:t>The Trend:</a:t>
            </a:r>
            <a:r>
              <a:rPr lang="en-US" altLang="en-US" dirty="0"/>
              <a:t> Access is concentrated in urban hubs, leaving rural and minority-heavy populations stranded.</a:t>
            </a:r>
          </a:p>
          <a:p>
            <a:endParaRPr lang="en-US" altLang="en-US" dirty="0"/>
          </a:p>
          <a:p>
            <a:r>
              <a:rPr lang="en-US" altLang="en-US" b="1" dirty="0"/>
              <a:t>Finding:</a:t>
            </a:r>
            <a:r>
              <a:rPr lang="en-US" altLang="en-US" dirty="0"/>
              <a:t> 15 states show a population-weighted distance burden exceeding 100 miles.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20D98F-9E50-51B0-CA35-AB3EFAFC0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20" y="1555751"/>
            <a:ext cx="6566479" cy="4621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100-Mile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803" y="2470244"/>
            <a:ext cx="4080361" cy="37698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1700" b="1"/>
              <a:t>The Golden Hour: </a:t>
            </a:r>
            <a:r>
              <a:rPr lang="en-US" altLang="en-US" sz="1700"/>
              <a:t>Burn care is time-sensitive; a 100-mile trip is a clinical risk, not just an inconvenience.</a:t>
            </a:r>
          </a:p>
          <a:p>
            <a:endParaRPr lang="en-US" altLang="en-US" sz="1700"/>
          </a:p>
          <a:p>
            <a:r>
              <a:rPr lang="en-US" altLang="en-US" sz="1700" b="1"/>
              <a:t>Pediatric Crisis: </a:t>
            </a:r>
            <a:r>
              <a:rPr lang="en-US" altLang="en-US" sz="1700"/>
              <a:t>Pediatric care gaps are even wider than adult gaps in 22 states.</a:t>
            </a:r>
          </a:p>
          <a:p>
            <a:endParaRPr lang="en-US" altLang="en-US" sz="1700"/>
          </a:p>
          <a:p>
            <a:r>
              <a:rPr lang="en-US" altLang="en-US" sz="1700" b="1"/>
              <a:t>Quality vs. Proximity: </a:t>
            </a:r>
            <a:r>
              <a:rPr lang="en-US" altLang="en-US" sz="1700"/>
              <a:t>Having "any" center isn't enough; ABA-verified quality centers are even further away.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91;p3">
            <a:extLst>
              <a:ext uri="{FF2B5EF4-FFF2-40B4-BE49-F238E27FC236}">
                <a16:creationId xmlns:a16="http://schemas.microsoft.com/office/drawing/2014/main" id="{C3367761-67A8-0766-0857-6ABF9D392143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2"/>
          <a:stretch>
            <a:fillRect/>
          </a:stretch>
        </p:blipFill>
        <p:spPr>
          <a:xfrm>
            <a:off x="5603967" y="2395499"/>
            <a:ext cx="5334197" cy="2067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3400"/>
              <a:t>Inequity by Design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800" b="1"/>
              <a:t>Correlation:</a:t>
            </a:r>
            <a:r>
              <a:rPr lang="en-US" altLang="en-US" sz="1800"/>
              <a:t> High SVI (poverty, lack of transport) directly correlates with the longest travel times.</a:t>
            </a:r>
          </a:p>
          <a:p>
            <a:endParaRPr lang="en-US" altLang="en-US" sz="1800"/>
          </a:p>
          <a:p>
            <a:r>
              <a:rPr lang="en-US" altLang="en-US" sz="1800" b="1"/>
              <a:t>Compounding Factors:</a:t>
            </a:r>
            <a:r>
              <a:rPr lang="en-US" altLang="en-US" sz="1800"/>
              <a:t> Families with "no vehicle" (SVI variable) are the same ones living in burn deserts.</a:t>
            </a:r>
          </a:p>
          <a:p>
            <a:endParaRPr lang="en-US" altLang="en-US" sz="1800"/>
          </a:p>
          <a:p>
            <a:r>
              <a:rPr lang="en-US" altLang="en-US" sz="1800" b="1"/>
              <a:t>Structural Barrier: </a:t>
            </a:r>
            <a:r>
              <a:rPr lang="en-US" altLang="en-US" sz="1800"/>
              <a:t>The system assumes patients can travel; the data proves they cannot.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8E90E6-9983-D910-B192-BE7DC68C6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27" y="518338"/>
            <a:ext cx="3682148" cy="2743200"/>
          </a:xfrm>
          <a:prstGeom prst="rect">
            <a:avLst/>
          </a:prstGeom>
        </p:spPr>
      </p:pic>
      <p:pic>
        <p:nvPicPr>
          <p:cNvPr id="5" name="Google Shape;110;p4">
            <a:extLst>
              <a:ext uri="{FF2B5EF4-FFF2-40B4-BE49-F238E27FC236}">
                <a16:creationId xmlns:a16="http://schemas.microsoft.com/office/drawing/2014/main" id="{2A1285A3-0924-649F-8E37-7CA3CA2131CC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3"/>
          <a:stretch>
            <a:fillRect/>
          </a:stretch>
        </p:blipFill>
        <p:spPr>
          <a:xfrm>
            <a:off x="6617368" y="3779876"/>
            <a:ext cx="5135719" cy="20414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Referral Bottleneck</a:t>
            </a:r>
          </a:p>
        </p:txBody>
      </p:sp>
      <p:pic>
        <p:nvPicPr>
          <p:cNvPr id="149" name="Google Shape;149;p6" descr="/home/claude/team13_rebuild/fig_referral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963448" y="600673"/>
            <a:ext cx="4146175" cy="26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6763871" y="3474122"/>
            <a:ext cx="5103009" cy="25393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/>
              <a:t>The Leak:</a:t>
            </a:r>
            <a:r>
              <a:rPr lang="en-US" altLang="en-US" dirty="0"/>
              <a:t> 66% of patients who meet ABA referral criteria are never transferred to a burn center.</a:t>
            </a:r>
          </a:p>
          <a:p>
            <a:endParaRPr lang="en-US" altLang="en-US" dirty="0"/>
          </a:p>
          <a:p>
            <a:r>
              <a:rPr lang="en-US" altLang="en-US" b="1" dirty="0"/>
              <a:t>The Cost of "Staying Local":</a:t>
            </a:r>
            <a:r>
              <a:rPr lang="en-US" altLang="en-US" dirty="0"/>
              <a:t> Sub-optimal care at non-specialized centers leads to higher infection rates and longer stays.</a:t>
            </a:r>
          </a:p>
          <a:p>
            <a:endParaRPr lang="en-US" altLang="en-US" dirty="0"/>
          </a:p>
          <a:p>
            <a:r>
              <a:rPr lang="en-US" altLang="en-US" b="1" dirty="0"/>
              <a:t>The Bottleneck: </a:t>
            </a:r>
            <a:r>
              <a:rPr lang="en-US" altLang="en-US" dirty="0"/>
              <a:t>Trauma centers are the "gatekeepers," but the gate is often closed.)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F9E99D-3601-B243-8385-4BD0D2A345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276507"/>
            <a:ext cx="1251284" cy="862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0FDB2-0C6B-580E-C5D9-F1858B731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377" y="2276383"/>
            <a:ext cx="5013623" cy="3315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3700"/>
              <a:t>Solution 1: Tele-Burn Hubs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2000" b="1"/>
              <a:t>The Strategy:</a:t>
            </a:r>
            <a:r>
              <a:rPr lang="en-US" altLang="en-US" sz="2000"/>
              <a:t> Don't move the patient; move the expertise.</a:t>
            </a:r>
          </a:p>
          <a:p>
            <a:endParaRPr lang="en-US" altLang="en-US" sz="2000"/>
          </a:p>
          <a:p>
            <a:r>
              <a:rPr lang="en-US" altLang="en-US" sz="2000" b="1"/>
              <a:t>Hub Identification: </a:t>
            </a:r>
            <a:r>
              <a:rPr lang="en-US" altLang="en-US" sz="2000"/>
              <a:t>Use the CVI to identify Level I Trauma Centers in "Failure Zones" to serve as Tele-Burn Hubs.</a:t>
            </a:r>
          </a:p>
          <a:p>
            <a:endParaRPr lang="en-US" altLang="en-US" sz="2000"/>
          </a:p>
          <a:p>
            <a:r>
              <a:rPr lang="en-US" altLang="en-US" sz="2000" b="1"/>
              <a:t>Impact: </a:t>
            </a:r>
            <a:r>
              <a:rPr lang="en-US" altLang="en-US" sz="2000"/>
              <a:t>Virtual triage can reduce unnecessary transfers and provide expert guidance in the first 60 minutes.</a:t>
            </a:r>
          </a:p>
        </p:txBody>
      </p:sp>
      <p:pic>
        <p:nvPicPr>
          <p:cNvPr id="14" name="Content Placeholder 13">
            <a:hlinkClick r:id="rId3"/>
            <a:extLst>
              <a:ext uri="{FF2B5EF4-FFF2-40B4-BE49-F238E27FC236}">
                <a16:creationId xmlns:a16="http://schemas.microsoft.com/office/drawing/2014/main" id="{6E1FDDB5-8E74-7EEB-75CC-62A73F4358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72187" y="1143158"/>
            <a:ext cx="4763600" cy="2000710"/>
          </a:xfrm>
          <a:prstGeom prst="rect">
            <a:avLst/>
          </a:prstGeom>
        </p:spPr>
      </p:pic>
      <p:pic>
        <p:nvPicPr>
          <p:cNvPr id="15" name="Google Shape;234;p9">
            <a:extLst>
              <a:ext uri="{FF2B5EF4-FFF2-40B4-BE49-F238E27FC236}">
                <a16:creationId xmlns:a16="http://schemas.microsoft.com/office/drawing/2014/main" id="{4CC4D720-20AF-6211-8EF7-45F25AA9C9E8}"/>
              </a:ext>
            </a:extLst>
          </p:cNvPr>
          <p:cNvPicPr preferRelativeResize="0"/>
          <p:nvPr/>
        </p:nvPicPr>
        <p:blipFill rotWithShape="1">
          <a:blip r:embed="rId5"/>
          <a:stretch>
            <a:fillRect/>
          </a:stretch>
        </p:blipFill>
        <p:spPr>
          <a:xfrm>
            <a:off x="6295502" y="3714133"/>
            <a:ext cx="5040285" cy="20019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 2: Policy &amp; 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1400" b="1"/>
              <a:t>The Projection:</a:t>
            </a:r>
            <a:r>
              <a:rPr lang="en-US" altLang="en-US" sz="1400"/>
              <a:t> Closing the referral gap could save ~$113M annually in excess infection costs.</a:t>
            </a:r>
          </a:p>
          <a:p>
            <a:endParaRPr lang="en-US" altLang="en-US" sz="1400"/>
          </a:p>
          <a:p>
            <a:r>
              <a:rPr lang="en-US" altLang="en-US" sz="1400" b="1"/>
              <a:t>Clinical Gain: </a:t>
            </a:r>
            <a:r>
              <a:rPr lang="en-US" altLang="en-US" sz="1400"/>
              <a:t>7% reduction in secondary infections by standardizing care via telemedicine.</a:t>
            </a:r>
          </a:p>
          <a:p>
            <a:endParaRPr lang="en-US" altLang="en-US" sz="1400"/>
          </a:p>
          <a:p>
            <a:r>
              <a:rPr lang="en-US" altLang="en-US" sz="1400" b="1"/>
              <a:t>Scale: </a:t>
            </a:r>
            <a:r>
              <a:rPr lang="en-US" altLang="en-US" sz="1400"/>
              <a:t>This isn't just a clinical fix; it's a multi-billion dollar efficiency opportunity for the US healthcare system.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A0C35D8-34F8-0B14-356D-FD9A571D7A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72000" y="1341700"/>
            <a:ext cx="7251192" cy="4583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Future of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3979" y="1690688"/>
            <a:ext cx="3144253" cy="3140241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b="1" dirty="0"/>
              <a:t>Final Call: </a:t>
            </a:r>
            <a:r>
              <a:rPr lang="en-US" altLang="en-US" dirty="0"/>
              <a:t>Turn "Burn Deserts" into "Connected Care Networks."</a:t>
            </a:r>
          </a:p>
          <a:p>
            <a:endParaRPr lang="en-US" altLang="en-US" dirty="0"/>
          </a:p>
          <a:p>
            <a:r>
              <a:rPr lang="en-US" altLang="en-US" b="1" dirty="0"/>
              <a:t>The Vision:</a:t>
            </a:r>
            <a:r>
              <a:rPr lang="en-US" altLang="en-US" dirty="0"/>
              <a:t> Federal and ABA partnership to anchor new centers in the 7 "Zero-Center" states.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3182954" y="5138268"/>
            <a:ext cx="939736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sym typeface="+mn-ea"/>
              </a:rPr>
              <a:t>Data has identified the gap. Technology must now bridge it.</a:t>
            </a:r>
          </a:p>
        </p:txBody>
      </p:sp>
      <p:pic>
        <p:nvPicPr>
          <p:cNvPr id="6" name="Google Shape;253;p10">
            <a:extLst>
              <a:ext uri="{FF2B5EF4-FFF2-40B4-BE49-F238E27FC236}">
                <a16:creationId xmlns:a16="http://schemas.microsoft.com/office/drawing/2014/main" id="{23DBC4A7-F19D-DCB6-6B64-55A4CF39EFB1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223084" y="1431759"/>
            <a:ext cx="6697579" cy="303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FF76E0-0B6E-7C77-CB2A-383C4266C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868" y="4569937"/>
            <a:ext cx="1839248" cy="1852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14486D-E373-5CE8-031F-EFEB9917D5F7}"/>
              </a:ext>
            </a:extLst>
          </p:cNvPr>
          <p:cNvSpPr txBox="1"/>
          <p:nvPr/>
        </p:nvSpPr>
        <p:spPr>
          <a:xfrm>
            <a:off x="3549316" y="5859379"/>
            <a:ext cx="629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 interactive graph details , please scan the QR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844</Words>
  <Application>Microsoft Office PowerPoint</Application>
  <PresentationFormat>Widescreen</PresentationFormat>
  <Paragraphs>78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                        The Geography of Survival</vt:lpstr>
      <vt:lpstr>The Problem: Burn Deserts</vt:lpstr>
      <vt:lpstr>Methodology: The CVI</vt:lpstr>
      <vt:lpstr>Mapping the Gap</vt:lpstr>
      <vt:lpstr>The 100-Mile Burden</vt:lpstr>
      <vt:lpstr>Inequity by Design</vt:lpstr>
      <vt:lpstr>The Referral Bottleneck</vt:lpstr>
      <vt:lpstr>Solution 1: Tele-Burn Hubs</vt:lpstr>
      <vt:lpstr>Solution 2: Policy &amp; Impact</vt:lpstr>
      <vt:lpstr>The Future of Access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Feifei</dc:creator>
  <cp:lastModifiedBy>Feifei li</cp:lastModifiedBy>
  <cp:revision>7</cp:revision>
  <dcterms:created xsi:type="dcterms:W3CDTF">2026-03-09T00:12:00Z</dcterms:created>
  <dcterms:modified xsi:type="dcterms:W3CDTF">2026-03-13T22:37:27Z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3251B88BF5B04221894E666A7CA5644C_13</vt:lpwstr>
  </property>
  <property fmtid="{D5CDD505-2E9C-101B-9397-08002B2CF9AE}" pid="3" name="KSOProductBuildVer">
    <vt:lpwstr>1033-12.2.0.23196</vt:lpwstr>
  </property>
</Properties>
</file>